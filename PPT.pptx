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36" r:id="rId1"/>
  </p:sldMasterIdLst>
  <p:notesMasterIdLst>
    <p:notesMasterId r:id="rId14"/>
  </p:notesMasterIdLst>
  <p:sldIdLst>
    <p:sldId id="256" r:id="rId2"/>
    <p:sldId id="266" r:id="rId3"/>
    <p:sldId id="257" r:id="rId4"/>
    <p:sldId id="258" r:id="rId5"/>
    <p:sldId id="267" r:id="rId6"/>
    <p:sldId id="268" r:id="rId7"/>
    <p:sldId id="269" r:id="rId8"/>
    <p:sldId id="270" r:id="rId9"/>
    <p:sldId id="274" r:id="rId10"/>
    <p:sldId id="271" r:id="rId11"/>
    <p:sldId id="272" r:id="rId12"/>
    <p:sldId id="27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6098CB-5BBC-4B0B-AF8F-CD4E439527AB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0E12C0-655D-4DB2-B58E-2C6E53974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21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E12C0-655D-4DB2-B58E-2C6E539746F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632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F6F11-4D44-4FFE-8764-3914BAF0E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8D0563-48FA-4BFE-8D8D-8B219D099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F51C4-0C3E-4624-8889-32B215048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F8126-16B5-4189-BD41-AA8601393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6876C-D452-47E4-9003-58A0031E6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95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549C4-6612-4026-9C5A-E2807C9F6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C0E9F-4C82-4597-A120-ADB385405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7C017-867F-4E3E-8EA1-55EE39781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790E5-31F2-4BF4-B19A-19648FDA8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281BF-8B1E-46B6-85BA-FA2F0B019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52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18A80-5191-4BEE-85F1-EE3695D51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59F8E-403A-4834-9326-3EF298AD0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E0C33-B2E0-4E2E-A8AC-3F16E0846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9E4CE-CDA4-4DE3-B3A8-5550A6993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B64D3-819B-483D-B8A7-293FF228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510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4F3D5-CA0D-4288-893B-9A74C3DDC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692F0-F03A-4EDF-A1A3-CC9E9B9E4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5D4E59-9EC6-4DBE-BE22-7B502CE4C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C3B42-6C23-4044-B81F-8954C43D5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DD02D-215E-43FE-9343-6C1A93C32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46DE6-106B-419F-95C6-2B7E761DB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911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DCBEE-98F9-415C-8AAE-85D1DC93E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A8E2E-DA3A-42C8-B402-024401368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CBBA0-E538-4C01-9132-CD404A0EE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DA0EED-57DF-4C1D-946F-B327D5EAC5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3578CF-35C9-4036-BE11-4FD311755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72FC05-39AA-4440-8AE8-328D676ED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F92746-2197-4250-BF0B-14E34E502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A7FC1F-B334-4FAC-B740-17C4364C6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433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32AD8-9020-4E31-A663-FA4DC8149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0C8C06-80C7-4898-9B9D-EB788A426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75CF6-7FFC-4754-85B4-3D0A0C2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213F8D-7E2D-464A-A5FE-30A4C75EA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40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503E30-D27C-4262-900B-6F1DD9151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E200-5422-4DCE-83AF-0654F6D65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7340E-AD7D-40A0-B1A5-8D05A00A1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88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26D6F-F113-4379-8EC5-BC80E71E2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44B6D-A86B-42C1-B2C9-7C446138A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31B94-6AEA-45D2-B324-DEE2863FA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62800-9B18-4B0E-9551-4C45838D6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D53FD-B705-4B3B-8EA2-88B2F26BD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F9CFE-00FD-460B-837B-B85097D32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466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D2890-A4BA-4F04-A080-E0E408D74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967D1A-91FE-4EDA-8FB4-FD2D2A296E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36F70-B3D4-4B12-AD4B-501E1B4EA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040C3-F811-46E9-B131-4F1D46934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B0F2B-BE3A-407C-96AA-CCA7364C0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F7BA39-8F08-494B-9D38-195850B7D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01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90391-48B8-497F-B760-D05B466F7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FC77EA-AD45-4CFF-AA06-D5C1D2931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B1CDC-E18F-4AE2-824D-4D1600370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B41AA-74D1-4527-9689-150F57AED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5B9E5-73D5-4398-A3DD-256A1869C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65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B83DCC-44C3-40B5-A3E2-90011E6A7D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301596-79E6-4FFD-9BB6-D321A8D07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17716-6E78-4C4F-869D-FBF4E4D23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43DBF-EB9B-4078-8832-FF72836DB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50610-6757-4DE7-B129-3117F2CC9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536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CE98B3-C65A-49B9-B1D9-0BF861F53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7EA7A-5CD2-4C20-B777-BD56D0059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365BF-908A-4427-A0B2-325C811805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F1FBD-5420-4774-877F-82A693C92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E74C4-C813-40E6-A58D-1544F5D97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89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7" r:id="rId1"/>
    <p:sldLayoutId id="2147484238" r:id="rId2"/>
    <p:sldLayoutId id="2147484239" r:id="rId3"/>
    <p:sldLayoutId id="2147484240" r:id="rId4"/>
    <p:sldLayoutId id="2147484241" r:id="rId5"/>
    <p:sldLayoutId id="2147484242" r:id="rId6"/>
    <p:sldLayoutId id="2147484243" r:id="rId7"/>
    <p:sldLayoutId id="2147484244" r:id="rId8"/>
    <p:sldLayoutId id="2147484245" r:id="rId9"/>
    <p:sldLayoutId id="2147484246" r:id="rId10"/>
    <p:sldLayoutId id="214748424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2470" y="85725"/>
            <a:ext cx="6858000" cy="509587"/>
          </a:xfrm>
        </p:spPr>
        <p:txBody>
          <a:bodyPr>
            <a:normAutofit fontScale="90000"/>
          </a:bodyPr>
          <a:lstStyle/>
          <a:p>
            <a:r>
              <a:rPr lang="en-IN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🌍 Global Development Clustering</a:t>
            </a:r>
            <a:endParaRPr sz="32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8E308CC4-C862-439C-A57F-7DC32FF13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7400" y="5087938"/>
            <a:ext cx="2178345" cy="125571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Raju</a:t>
            </a: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Spoorthi</a:t>
            </a: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9BC926-488C-4A51-AFFD-0C12666B8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012" y="595312"/>
            <a:ext cx="7448550" cy="41106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E2131-C6B0-4AD2-A97F-FFD3EA3ADB2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082087" cy="433387"/>
          </a:xfrm>
          <a:solidFill>
            <a:schemeClr val="tx1"/>
          </a:solidFill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F0"/>
                </a:solidFill>
              </a:rPr>
              <a:t>                                        AGENDA</a:t>
            </a:r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46461-9D5D-4795-BE9D-133AB7870DE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90575" y="762000"/>
            <a:ext cx="6038850" cy="458152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: Clustering Models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&amp; Results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of the Application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Learning's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114300" indent="0">
              <a:lnSpc>
                <a:spcPct val="15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468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450166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OBJECTIVE</a:t>
            </a:r>
            <a:endParaRPr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B8ECD4-11C4-494F-84BC-19DD07F2FF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1206" y="749211"/>
            <a:ext cx="857279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 used a rich dataset of world economic and social data (like GDP, literacy, life expectancy).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Our goal is to group countries into clusters based on these development indicators.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These clusters give useful insights for comparing countries and supporting planning/decisions.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 built an interactive app (Streamlit/Flask) so anyone can upload data and see the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8037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</a:t>
            </a: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 OVERVIEW</a:t>
            </a:r>
            <a:endParaRPr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990600"/>
            <a:ext cx="8401052" cy="43148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dataset includes a rich set of variables that capture various facts of a country's development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Source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Development Measurements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Economic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GDP, Business Tax Rate, Lending Interest, Tourism Inbound/Outbound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Social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Birth Rate, Infant Mortality Rate, Life Expectancy (Female &amp; Male), Population (Total &amp; Urban)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Environmental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CO2 Emissions, Energy Usage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Technology &amp; Infrastructure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Usage, Mobile Phone Usage</a:t>
            </a:r>
          </a:p>
          <a:p>
            <a:pPr marL="0" indent="0">
              <a:lnSpc>
                <a:spcPct val="100000"/>
              </a:lnSpc>
              <a:buNone/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5C880-3D1E-4B5F-9A5C-6651AFB47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419100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IN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EDA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46C60-3142-4BD9-BD6B-93F3018FF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485776"/>
            <a:ext cx="8953500" cy="26098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Statistics: Mean, Median, Standard Deviation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Analysis: Histograms, Boxplots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Analysis: Heatmap to detect relationships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Extracted: GDP ↔ Life Expectancy correlation, variance in healthcare/education metrics</a:t>
            </a:r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286888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FF450-6AA5-49F5-AEBE-D8AC6D0AD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144000" cy="457200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00B0F0"/>
                </a:solidFill>
              </a:rPr>
              <a:t>                            Clustering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2EA09-AD2A-4D7B-8472-B8C8C999E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638175"/>
            <a:ext cx="6419851" cy="1371600"/>
          </a:xfrm>
        </p:spPr>
        <p:txBody>
          <a:bodyPr>
            <a:no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 KMeans, DBSCAN, Hierarchical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Metric: Silhouette Score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Reduction: PCA for visualization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764AA7-5AD6-422A-B311-B12F284E2950}"/>
              </a:ext>
            </a:extLst>
          </p:cNvPr>
          <p:cNvSpPr/>
          <p:nvPr/>
        </p:nvSpPr>
        <p:spPr>
          <a:xfrm>
            <a:off x="645775" y="1788674"/>
            <a:ext cx="2333844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  KMeans</a:t>
            </a:r>
            <a:r>
              <a:rPr lang="en-IN" dirty="0"/>
              <a:t> </a:t>
            </a:r>
            <a:r>
              <a:rPr lang="en-IN" dirty="0">
                <a:solidFill>
                  <a:srgbClr val="00B0F0"/>
                </a:solidFill>
              </a:rPr>
              <a:t>Clustering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8D737A-B5B4-4A9B-A524-602B97D0BCA5}"/>
              </a:ext>
            </a:extLst>
          </p:cNvPr>
          <p:cNvSpPr/>
          <p:nvPr/>
        </p:nvSpPr>
        <p:spPr>
          <a:xfrm>
            <a:off x="645775" y="2236944"/>
            <a:ext cx="608076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Tried values of k = 2 to 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k selected based on silhouette score (~4)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each country to a development cluster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4FC41B-2015-47F8-A924-2D9F85AECEF7}"/>
              </a:ext>
            </a:extLst>
          </p:cNvPr>
          <p:cNvSpPr/>
          <p:nvPr/>
        </p:nvSpPr>
        <p:spPr>
          <a:xfrm>
            <a:off x="645775" y="3364095"/>
            <a:ext cx="2333844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DBSCAN &amp; Hierarchical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C3B9A6-BB6C-4D02-9EAE-1A2D0898E00C}"/>
              </a:ext>
            </a:extLst>
          </p:cNvPr>
          <p:cNvSpPr/>
          <p:nvPr/>
        </p:nvSpPr>
        <p:spPr>
          <a:xfrm>
            <a:off x="645775" y="3675609"/>
            <a:ext cx="64977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DBSCAN: Handles outliers and noise, flexible shape clusters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Hierarchical: Useful for small datasets, dendrogram 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made across methods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A7F305-1EF6-45CD-8935-501BD91A1DB1}"/>
              </a:ext>
            </a:extLst>
          </p:cNvPr>
          <p:cNvSpPr/>
          <p:nvPr/>
        </p:nvSpPr>
        <p:spPr>
          <a:xfrm>
            <a:off x="693619" y="4894899"/>
            <a:ext cx="75455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Silhouette Scores: </a:t>
            </a:r>
          </a:p>
          <a:p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K-Means      : 0.24</a:t>
            </a:r>
          </a:p>
          <a:p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: 0.60</a:t>
            </a:r>
          </a:p>
          <a:p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DBSCAN     : -0.36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816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6AA61-A56B-4F85-85FB-A0B5433A0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11174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CLUSTERING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endParaRPr lang="en-IN"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A51C80CD-43A9-4109-BBC7-03204E0737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" y="991138"/>
            <a:ext cx="2938121" cy="2561687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11B124-EBE6-48AE-93C1-D8E7C940A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775" y="991138"/>
            <a:ext cx="2838450" cy="27146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A6DD7C2-0EFE-4500-91D1-0D0664352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971550"/>
            <a:ext cx="2838450" cy="25812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1E9DCCB-FF63-4EC1-AFC7-85FA6390EC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9375" y="3775614"/>
            <a:ext cx="5072426" cy="285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665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9B587-94F7-4543-81C5-5D5C037D3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33"/>
            <a:ext cx="9144000" cy="429258"/>
          </a:xfrm>
          <a:solidFill>
            <a:schemeClr val="tx1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CLUSTER PROFILES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8C61D-9335-4292-91EB-009D0FE35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552450"/>
            <a:ext cx="7886700" cy="2257425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0: High GDP, literacy, life expectancy (Developed nations)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1: Medium GDP, improving literacy, moderate healthcare (Emerging economies)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2: Low GDP, low literacy, poor healthcare (Underdeveloped)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3: Mixed indicators, transitional countries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E2F5BC-9E70-4902-96EA-4EF715BEAAFC}"/>
              </a:ext>
            </a:extLst>
          </p:cNvPr>
          <p:cNvSpPr/>
          <p:nvPr/>
        </p:nvSpPr>
        <p:spPr>
          <a:xfrm>
            <a:off x="790575" y="2440543"/>
            <a:ext cx="1762125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Trebuchet MS" pitchFamily="34" charset="0"/>
              </a:rPr>
              <a:t>DEPLOYMENT</a:t>
            </a:r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80E935-9DD2-40C6-99F8-773D8BFC54B3}"/>
              </a:ext>
            </a:extLst>
          </p:cNvPr>
          <p:cNvSpPr/>
          <p:nvPr/>
        </p:nvSpPr>
        <p:spPr>
          <a:xfrm>
            <a:off x="790575" y="2920558"/>
            <a:ext cx="8220075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final clustering application is deployed on a user-friendly platform ,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deployed application will provide an interactive way for stakeholders to: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the clusters and the countries within them.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the defining characteristics of each cluster.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actionable insights from the data in real-time.</a:t>
            </a:r>
          </a:p>
          <a:p>
            <a:pPr marL="1143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459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B3BC2-3685-4526-83F9-523EED897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47650"/>
            <a:ext cx="9144000" cy="686143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br>
              <a:rPr lang="en-IN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Project Overview</a:t>
            </a:r>
            <a:br>
              <a:rPr lang="en-IN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8E3EB-1829-4140-AF7D-6F4671725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151" y="953428"/>
            <a:ext cx="8792307" cy="5250424"/>
          </a:xfrm>
        </p:spPr>
        <p:txBody>
          <a:bodyPr>
            <a:no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Cluster countries based on socio-economic indicators to uncover development patterns using unsupervised learning.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Methods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Implements KMeans, DBSCAN, and Hierarchical (Agglomerative) clustering.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silhouette scores to compare clustering performance across methods.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PCA-based 2D scatterplots with legends to show cluster separation.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Profiling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Describes each cluster using adaptive, percentile-based summaries (e.g., Low/Moderate/High GDP).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App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Streamlit interface for model selection, parameter tuning, and real-time visualization.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 Analysi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s: Jupyter notebook includes reproducible code for comparative analysis and profiling.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Cleans missing values, scales features, and excludes noise points from summaries.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Ideal for policy analysis, development research, and exploratory data science.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Python, pandas,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-learn, matplotlib, Streamlit</a:t>
            </a:r>
          </a:p>
          <a:p>
            <a:pPr marL="0" indent="0">
              <a:buNone/>
            </a:pP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470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B4B53-29E8-4544-A1B3-6119A7764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525"/>
            <a:ext cx="9144000" cy="492124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14FA0-A84E-4082-96E3-FF30830DB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49" y="850899"/>
            <a:ext cx="8296275" cy="197802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insights into preprocessing socio-economic datasets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strong correlations among key development indicators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the application of clustering algorithms on real-world data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to evaluate clustering performance using silhouette score and visualization</a:t>
            </a:r>
          </a:p>
          <a:p>
            <a:pPr>
              <a:lnSpc>
                <a:spcPct val="10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3251E6-F462-4263-A306-6E5D1DEE0B57}"/>
              </a:ext>
            </a:extLst>
          </p:cNvPr>
          <p:cNvSpPr/>
          <p:nvPr/>
        </p:nvSpPr>
        <p:spPr>
          <a:xfrm>
            <a:off x="720126" y="2549009"/>
            <a:ext cx="1858201" cy="369332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I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28C5D4-114D-4582-94EA-9710DDA0D11E}"/>
              </a:ext>
            </a:extLst>
          </p:cNvPr>
          <p:cNvSpPr/>
          <p:nvPr/>
        </p:nvSpPr>
        <p:spPr>
          <a:xfrm>
            <a:off x="647699" y="3290412"/>
            <a:ext cx="755332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analysis with time-series development 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environmental and governance indicators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advanced clustering (Gaussian Mixture Models, Spectral Clustering)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supervised ML models for predictive analysis of country development</a:t>
            </a:r>
          </a:p>
        </p:txBody>
      </p:sp>
    </p:spTree>
    <p:extLst>
      <p:ext uri="{BB962C8B-B14F-4D97-AF65-F5344CB8AC3E}">
        <p14:creationId xmlns:p14="http://schemas.microsoft.com/office/powerpoint/2010/main" val="2891105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6B47-DDA2-42B4-A42D-CF3498F99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92124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240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CONCLUSION</a:t>
            </a:r>
            <a:endParaRPr lang="en-IN"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D4B2E-955F-4BD5-953C-0B908EA65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679451"/>
            <a:ext cx="7886700" cy="177800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highlighted distinct groups of countries based on development metrics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vs. underdeveloped nations show clear separation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Emerging economies identified as transitional clusters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can support policy-making and resource allocation decisions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495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18D2-B1F6-4EAB-A7BC-E1685814D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575" y="2090740"/>
            <a:ext cx="2009775" cy="1338260"/>
          </a:xfrm>
        </p:spPr>
        <p:txBody>
          <a:bodyPr>
            <a:normAutofit/>
          </a:bodyPr>
          <a:lstStyle/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267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</TotalTime>
  <Words>696</Words>
  <Application>Microsoft Office PowerPoint</Application>
  <PresentationFormat>On-screen Show (4:3)</PresentationFormat>
  <Paragraphs>92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Trebuchet MS</vt:lpstr>
      <vt:lpstr>Wingdings</vt:lpstr>
      <vt:lpstr>Office Theme</vt:lpstr>
      <vt:lpstr>🌍 Global Development Clustering</vt:lpstr>
      <vt:lpstr>                                        AGENDA</vt:lpstr>
      <vt:lpstr>                                               OBJECTIVE</vt:lpstr>
      <vt:lpstr>                                📊 DATASET OVERVIEW</vt:lpstr>
      <vt:lpstr>                                             EDA Methodology</vt:lpstr>
      <vt:lpstr>                            Clustering Methodology</vt:lpstr>
      <vt:lpstr>                                CLUSTERING VISUALIZATION</vt:lpstr>
      <vt:lpstr>                                      CLUSTER PROFILES</vt:lpstr>
      <vt:lpstr>                                                             Project Overview </vt:lpstr>
      <vt:lpstr>                                           LEARNINGS</vt:lpstr>
      <vt:lpstr>                                             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🌍 Global Development Clustering</dc:title>
  <dc:subject/>
  <dc:creator>I'M RAJU</dc:creator>
  <cp:keywords/>
  <dc:description>generated using python-pptx</dc:description>
  <cp:lastModifiedBy>I'M RAJU</cp:lastModifiedBy>
  <cp:revision>30</cp:revision>
  <dcterms:created xsi:type="dcterms:W3CDTF">2013-01-27T09:14:16Z</dcterms:created>
  <dcterms:modified xsi:type="dcterms:W3CDTF">2025-09-25T09:43:42Z</dcterms:modified>
  <cp:category/>
</cp:coreProperties>
</file>